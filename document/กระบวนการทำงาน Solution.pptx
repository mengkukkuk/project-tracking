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E2BE-3D81-4983-A8BC-A9B53BBC6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55276-B6BC-4EC1-A311-EB681C888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24BCF-39BC-4496-B802-AC48BFC0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91675-11E6-4123-9A2D-93A38737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C999C-7264-470B-8533-537F0FE4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8584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827A-A5F9-472B-AF05-D87E9522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0B01-70E6-4CA9-9418-841D3DCB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B9E33-38A4-4896-8B3B-A8C81AC4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6873D-F6C0-41E0-829F-0280FCF1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9F87A-3D77-4691-9B7E-1B436A6A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503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C0C2-99DA-4B81-9D89-68AE565E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10CB9-B79F-4A9A-8675-1AE5E45C8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2683-A1D5-44AB-87B3-6F9D81AA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DE428-D27F-4372-8491-D4EB7AB3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EF83B-D8CD-4885-9C28-E3E78358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8740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679A-0B60-463E-BC97-41376DC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5DA4-8141-485C-BAEA-C5B83C44C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A10B8-130F-4823-8A74-F9F1A76CA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96342-B28A-4E05-ACC1-4DB4F970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4F6D-6B89-45A0-A553-EE32FA76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C6C02-DEC4-4DC5-9B5B-D2D091C5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866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A921-EF24-4D91-AC27-881353B3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C8182-B2EF-429A-9D10-004474FD0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27A8C-E517-4787-A675-352633C64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1C89E-6EFD-4691-8C0A-B21D1D1A6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EAAB1E-8577-41BF-89BB-D02367EAE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099A1-DA32-49E7-B187-944ADE3D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28692-CE74-4082-B3CF-015BF21D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34EB6-8C44-4F94-AF8E-27BFAB04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684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99D5-C867-4FEE-84A1-45F95CCE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1CD39-E7E4-4A1D-856E-9C917F63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B0790-DE8F-4F40-B372-0F4D9BE6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622C-07C9-4BB9-8BCB-A3962600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92939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C2860-E831-4580-B690-45674F9A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AA93A-6B23-4522-87AD-C4ADA606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75DF6-F933-4FB7-8909-88896562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73416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D552-C377-4309-8F61-5507905E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8019-11B2-49FF-80AD-CD778B327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D323D-D3F1-4BFB-9B45-EAE14DAE7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B5EE2-C260-4050-B561-1B0D1C9F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61A43-737B-408E-BAA1-E65691AB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4787C-DC19-42DB-AB0E-B50B3F79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5243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065A-7BDC-4546-BD53-034E28880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97E53C-4147-48E9-8B09-82C884C6B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A6F60-8FBB-4F5B-8735-72D6B2A1D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524A6-3D25-4651-B021-40CA1353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FCFE-8E28-4850-BC4A-92573FFB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0E4C-40B7-434D-954B-7104C75D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394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9971-69FD-4FEB-936B-761B0E16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18C22-C004-4DD8-B8B4-490A2B325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A6E0F-D602-49DE-B646-2039B6C5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A3E03-E3FF-45B2-8D2C-56F543EA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672B-E3B5-409A-BAA7-501F8B3BD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641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C8C61-6ACF-4624-A745-55346092C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BD2CE-FFCE-47AD-824B-038BA3C34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2A90B-A0F4-45ED-BC10-45ED0EE0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9D5A8-3568-49CF-BA3C-19D7776A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5BF0A-0E85-4AC0-9F94-94EE7E70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944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F9035-A452-4FB6-8BED-8909D23A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F0430-67A0-476F-AC9B-FAAFAC859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74930-CB43-408E-841A-06EEC28F1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56E99-4B8D-4783-9D9F-89D065597DCC}" type="datetimeFigureOut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FC45B-FE63-4CBE-88F8-AC66D788E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C3F5-9D63-45A9-A084-A33F99AD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92476-1357-4B76-98EB-8C8902ACED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522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AC795E72-244C-4C84-AC91-D092927E9C8D}"/>
              </a:ext>
            </a:extLst>
          </p:cNvPr>
          <p:cNvSpPr/>
          <p:nvPr/>
        </p:nvSpPr>
        <p:spPr>
          <a:xfrm>
            <a:off x="2699226" y="2115799"/>
            <a:ext cx="146304" cy="146304"/>
          </a:xfrm>
          <a:prstGeom prst="rect">
            <a:avLst/>
          </a:prstGeom>
          <a:solidFill>
            <a:srgbClr val="8FB6F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86963A-50E4-4A5A-99FA-403A7000EE2F}"/>
              </a:ext>
            </a:extLst>
          </p:cNvPr>
          <p:cNvSpPr/>
          <p:nvPr/>
        </p:nvSpPr>
        <p:spPr>
          <a:xfrm>
            <a:off x="397986" y="1082527"/>
            <a:ext cx="3566160" cy="4553712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5F4"/>
            </a:solidFill>
            <a:prstDash val="solid"/>
          </a:ln>
          <a:effectLst>
            <a:outerShdw blurRad="76200" dist="25400" dir="5400000" algn="bl" rotWithShape="0">
              <a:srgbClr val="20305A">
                <a:alpha val="8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E9D7B4-986E-4899-BFDD-5408AFF1D5D0}"/>
              </a:ext>
            </a:extLst>
          </p:cNvPr>
          <p:cNvSpPr/>
          <p:nvPr/>
        </p:nvSpPr>
        <p:spPr>
          <a:xfrm>
            <a:off x="672306" y="1356847"/>
            <a:ext cx="530352" cy="530352"/>
          </a:xfrm>
          <a:prstGeom prst="ellipse">
            <a:avLst/>
          </a:prstGeom>
          <a:solidFill>
            <a:srgbClr val="344E96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A98D24-097B-40D2-A321-FEA97E5DBAED}"/>
              </a:ext>
            </a:extLst>
          </p:cNvPr>
          <p:cNvSpPr/>
          <p:nvPr/>
        </p:nvSpPr>
        <p:spPr>
          <a:xfrm>
            <a:off x="672306" y="135684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B6FF"/>
                </a:solidFill>
                <a:latin typeface="IBM Plex Sans Thai" pitchFamily="34" charset="0"/>
                <a:ea typeface="IBM Plex Sans Thai" pitchFamily="34" charset="-122"/>
              </a:rPr>
              <a:t>01</a:t>
            </a:r>
            <a:endParaRPr lang="en-US" sz="15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8E8717-769E-4E23-B123-8AD68DC2C054}"/>
              </a:ext>
            </a:extLst>
          </p:cNvPr>
          <p:cNvSpPr/>
          <p:nvPr/>
        </p:nvSpPr>
        <p:spPr>
          <a:xfrm>
            <a:off x="2501106" y="1411711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pic>
        <p:nvPicPr>
          <p:cNvPr id="9" name="Image 0" descr="icons/clock_amber.png">
            <a:extLst>
              <a:ext uri="{FF2B5EF4-FFF2-40B4-BE49-F238E27FC236}">
                <a16:creationId xmlns:a16="http://schemas.microsoft.com/office/drawing/2014/main" id="{5228615F-CF02-42C7-A60A-CADA4B19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546" y="1475719"/>
            <a:ext cx="182880" cy="18288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77B6E8CA-59BA-42D2-8AAB-408971980629}"/>
              </a:ext>
            </a:extLst>
          </p:cNvPr>
          <p:cNvSpPr/>
          <p:nvPr/>
        </p:nvSpPr>
        <p:spPr>
          <a:xfrm>
            <a:off x="2812002" y="141171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6A53"/>
                </a:solidFill>
                <a:latin typeface="IBM Plex Sans Thai" pitchFamily="34" charset="0"/>
                <a:ea typeface="IBM Plex Sans Thai" pitchFamily="34" charset="-122"/>
              </a:rPr>
              <a:t> 3 </a:t>
            </a:r>
            <a:r>
              <a:rPr lang="en-US" sz="1050" b="1" dirty="0" err="1">
                <a:solidFill>
                  <a:srgbClr val="C16A53"/>
                </a:solidFill>
                <a:latin typeface="IBM Plex Sans Thai" pitchFamily="34" charset="0"/>
                <a:ea typeface="IBM Plex Sans Thai" pitchFamily="34" charset="-122"/>
              </a:rPr>
              <a:t>วัน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5A353E-79ED-44C5-B6FA-D55F7BB6E0E1}"/>
              </a:ext>
            </a:extLst>
          </p:cNvPr>
          <p:cNvSpPr/>
          <p:nvPr/>
        </p:nvSpPr>
        <p:spPr>
          <a:xfrm>
            <a:off x="672306" y="1996927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Requirement Meeting#2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&amp; Site Survey #1</a:t>
            </a:r>
            <a:endParaRPr lang="en-US" sz="13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A42E01C-9381-44CC-8702-B93BCD02EC75}"/>
              </a:ext>
            </a:extLst>
          </p:cNvPr>
          <p:cNvSpPr/>
          <p:nvPr/>
        </p:nvSpPr>
        <p:spPr>
          <a:xfrm>
            <a:off x="654018" y="4200720"/>
            <a:ext cx="3054096" cy="1289215"/>
          </a:xfrm>
          <a:prstGeom prst="roundRect">
            <a:avLst>
              <a:gd name="adj" fmla="val 6061"/>
            </a:avLst>
          </a:prstGeom>
          <a:solidFill>
            <a:srgbClr val="EFF4FC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60740D-7374-49D2-B181-C7A99645C47A}"/>
              </a:ext>
            </a:extLst>
          </p:cNvPr>
          <p:cNvSpPr/>
          <p:nvPr/>
        </p:nvSpPr>
        <p:spPr>
          <a:xfrm>
            <a:off x="690594" y="4237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ผลลัพธ์</a:t>
            </a:r>
            <a:endParaRPr lang="en-US" sz="10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86C82BA-F42E-4A0C-BE47-23A05201EF05}"/>
              </a:ext>
            </a:extLst>
          </p:cNvPr>
          <p:cNvSpPr/>
          <p:nvPr/>
        </p:nvSpPr>
        <p:spPr>
          <a:xfrm>
            <a:off x="772890" y="4598483"/>
            <a:ext cx="2816352" cy="745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Requirement </a:t>
            </a:r>
            <a:r>
              <a:rPr lang="en-US" sz="1100" dirty="0" err="1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จากลูกค้า</a:t>
            </a:r>
            <a:endParaRPr lang="th-TH" sz="1100" dirty="0">
              <a:solidFill>
                <a:srgbClr val="1F2A40"/>
              </a:solidFill>
              <a:latin typeface="Sarabun" pitchFamily="34" charset="0"/>
              <a:ea typeface="Sarabun" pitchFamily="34" charset="-122"/>
            </a:endParaRPr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ชุดคำถามที่จะถามเพื่อออกแบบ </a:t>
            </a:r>
            <a:r>
              <a:rPr lang="en-US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Concept</a:t>
            </a:r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ได้ข้อสรุปกันภายในตามที่ได้ข้อมูลจากลูกค้า</a:t>
            </a:r>
            <a:endParaRPr lang="en-US" sz="1100" dirty="0">
              <a:solidFill>
                <a:srgbClr val="1F2A40"/>
              </a:solidFill>
              <a:latin typeface="Sarabun" pitchFamily="34" charset="0"/>
              <a:ea typeface="Sarabun" pitchFamily="34" charset="-122"/>
            </a:endParaRPr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443527A-0D64-4634-B708-29B31E9DF63E}"/>
              </a:ext>
            </a:extLst>
          </p:cNvPr>
          <p:cNvSpPr/>
          <p:nvPr/>
        </p:nvSpPr>
        <p:spPr>
          <a:xfrm>
            <a:off x="672306" y="256385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วัตถุประสงค์</a:t>
            </a:r>
            <a:endParaRPr lang="en-US" sz="10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50057C3-B113-41DB-84D3-7F2B839B662F}"/>
              </a:ext>
            </a:extLst>
          </p:cNvPr>
          <p:cNvSpPr/>
          <p:nvPr/>
        </p:nvSpPr>
        <p:spPr>
          <a:xfrm>
            <a:off x="690594" y="2838175"/>
            <a:ext cx="3035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รับ </a:t>
            </a:r>
            <a:r>
              <a:rPr lang="en-US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Requirement </a:t>
            </a:r>
            <a:r>
              <a:rPr lang="th-TH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และเอกสารจากลูกค้าก่อน</a:t>
            </a:r>
            <a:r>
              <a:rPr lang="en-US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 meeting</a:t>
            </a:r>
            <a:endParaRPr lang="th-TH" sz="1200" dirty="0">
              <a:solidFill>
                <a:srgbClr val="1F2A40"/>
              </a:solidFill>
              <a:latin typeface="Sarabun" pitchFamily="34" charset="0"/>
              <a:ea typeface="Sarabun" pitchFamily="34" charset="-122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พูดคุย</a:t>
            </a:r>
            <a:r>
              <a:rPr lang="en-US" sz="1200" dirty="0" err="1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รับข้อมูลจากลูกค้า</a:t>
            </a:r>
            <a:endParaRPr lang="en-US" sz="1200" dirty="0">
              <a:solidFill>
                <a:srgbClr val="1F2A40"/>
              </a:solidFill>
              <a:latin typeface="Sarabun" pitchFamily="34" charset="0"/>
              <a:ea typeface="Sarabun" pitchFamily="34" charset="-122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เตรียมคำถามที่ไปจะไปถามเพื่อขอข้อมูลเพิ่มเติม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เข้าใจปัญหาและเป้าหมาย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Site survey</a:t>
            </a:r>
            <a:r>
              <a:rPr lang="th-TH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 ตามข้อมูลที่ได้ ก่อนและหลังที่ </a:t>
            </a:r>
            <a:r>
              <a:rPr lang="en-US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Meeting</a:t>
            </a:r>
            <a:endParaRPr lang="th-TH" sz="1200" dirty="0">
              <a:solidFill>
                <a:srgbClr val="1F2A40"/>
              </a:solidFill>
              <a:latin typeface="Sarabun" pitchFamily="34" charset="0"/>
              <a:ea typeface="Sarabun" pitchFamily="34" charset="-122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2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สรุปข้อมูลที่ได้จากลูกค้ากันภายในแผนก/ทีม</a:t>
            </a:r>
            <a:endParaRPr lang="en-US" sz="1200" dirty="0">
              <a:solidFill>
                <a:srgbClr val="1F2A40"/>
              </a:solidFill>
              <a:latin typeface="Sarabun" pitchFamily="34" charset="0"/>
              <a:ea typeface="Sarabun" pitchFamily="34" charset="-122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4FF83EF3-424C-4191-9EAA-589ACC682B17}"/>
              </a:ext>
            </a:extLst>
          </p:cNvPr>
          <p:cNvSpPr/>
          <p:nvPr/>
        </p:nvSpPr>
        <p:spPr>
          <a:xfrm>
            <a:off x="2484670" y="228063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EEFE192-E1A7-47E9-9EE7-997250CF1BBD}"/>
              </a:ext>
            </a:extLst>
          </p:cNvPr>
          <p:cNvSpPr/>
          <p:nvPr/>
        </p:nvSpPr>
        <p:spPr>
          <a:xfrm>
            <a:off x="2795566" y="228063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400" dirty="0"/>
              <a:t>ลูกค้า</a:t>
            </a:r>
            <a:endParaRPr lang="en-US" sz="24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829D0283-8B92-45BD-8C31-0BF2D0E1F2E4}"/>
              </a:ext>
            </a:extLst>
          </p:cNvPr>
          <p:cNvSpPr/>
          <p:nvPr/>
        </p:nvSpPr>
        <p:spPr>
          <a:xfrm>
            <a:off x="4402259" y="1082527"/>
            <a:ext cx="3566160" cy="4553712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5F4"/>
            </a:solidFill>
            <a:prstDash val="solid"/>
          </a:ln>
          <a:effectLst>
            <a:outerShdw blurRad="76200" dist="25400" dir="5400000" algn="bl" rotWithShape="0">
              <a:srgbClr val="20305A">
                <a:alpha val="8000"/>
              </a:srgbClr>
            </a:outerShdw>
          </a:effectLst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6A21313-A3BB-44FC-8F49-0270BDA7EF3D}"/>
              </a:ext>
            </a:extLst>
          </p:cNvPr>
          <p:cNvSpPr/>
          <p:nvPr/>
        </p:nvSpPr>
        <p:spPr>
          <a:xfrm>
            <a:off x="4676579" y="1356847"/>
            <a:ext cx="530352" cy="530352"/>
          </a:xfrm>
          <a:prstGeom prst="ellipse">
            <a:avLst/>
          </a:prstGeom>
          <a:solidFill>
            <a:srgbClr val="344E96"/>
          </a:solidFill>
          <a:ln/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1EA0B44-8F5C-4DF1-AF5F-8F3D13F9D7BE}"/>
              </a:ext>
            </a:extLst>
          </p:cNvPr>
          <p:cNvSpPr/>
          <p:nvPr/>
        </p:nvSpPr>
        <p:spPr>
          <a:xfrm>
            <a:off x="4676579" y="135684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B6FF"/>
                </a:solidFill>
                <a:latin typeface="IBM Plex Sans Thai" pitchFamily="34" charset="0"/>
                <a:ea typeface="IBM Plex Sans Thai" pitchFamily="34" charset="-122"/>
              </a:rPr>
              <a:t>02</a:t>
            </a:r>
            <a:endParaRPr lang="en-US" sz="15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50172C3C-659F-4A1A-AF70-60FB20B00117}"/>
              </a:ext>
            </a:extLst>
          </p:cNvPr>
          <p:cNvSpPr/>
          <p:nvPr/>
        </p:nvSpPr>
        <p:spPr>
          <a:xfrm>
            <a:off x="6505379" y="1411711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pic>
        <p:nvPicPr>
          <p:cNvPr id="23" name="Image 1" descr="icons/clock_amber.png">
            <a:extLst>
              <a:ext uri="{FF2B5EF4-FFF2-40B4-BE49-F238E27FC236}">
                <a16:creationId xmlns:a16="http://schemas.microsoft.com/office/drawing/2014/main" id="{C3F26949-F511-4A3A-B3BF-5C5683A15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19" y="1475719"/>
            <a:ext cx="182880" cy="182880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FA3AD15D-F8CF-4A52-8287-911697989CBE}"/>
              </a:ext>
            </a:extLst>
          </p:cNvPr>
          <p:cNvSpPr/>
          <p:nvPr/>
        </p:nvSpPr>
        <p:spPr>
          <a:xfrm>
            <a:off x="6816275" y="141171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6A53"/>
                </a:solidFill>
                <a:latin typeface="IBM Plex Sans Thai" pitchFamily="34" charset="0"/>
                <a:ea typeface="IBM Plex Sans Thai" pitchFamily="34" charset="-122"/>
              </a:rPr>
              <a:t>14 วัน</a:t>
            </a:r>
            <a:endParaRPr lang="en-US" sz="105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BCB853FE-3051-4166-9760-0F41CF240CF0}"/>
              </a:ext>
            </a:extLst>
          </p:cNvPr>
          <p:cNvSpPr/>
          <p:nvPr/>
        </p:nvSpPr>
        <p:spPr>
          <a:xfrm>
            <a:off x="4676579" y="1996927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DRAFT CONCEPT</a:t>
            </a:r>
            <a:r>
              <a:rPr lang="en-US" sz="1350" b="1" dirty="0">
                <a:solidFill>
                  <a:srgbClr val="FF0000"/>
                </a:solidFill>
                <a:latin typeface="IBM Plex Sans Thai" pitchFamily="34" charset="0"/>
                <a:ea typeface="IBM Plex Sans Thai" pitchFamily="34" charset="-122"/>
              </a:rPr>
              <a:t>(</a:t>
            </a:r>
            <a:r>
              <a:rPr lang="th-TH" sz="1350" b="1" dirty="0">
                <a:solidFill>
                  <a:srgbClr val="FF0000"/>
                </a:solidFill>
                <a:latin typeface="IBM Plex Sans Thai" pitchFamily="34" charset="0"/>
                <a:ea typeface="IBM Plex Sans Thai" pitchFamily="34" charset="-122"/>
              </a:rPr>
              <a:t> สรุปเพื่อพูดคุยกันภายใน </a:t>
            </a:r>
            <a:r>
              <a:rPr lang="en-US" sz="1350" b="1" dirty="0">
                <a:solidFill>
                  <a:srgbClr val="FF0000"/>
                </a:solidFill>
                <a:latin typeface="IBM Plex Sans Thai" pitchFamily="34" charset="0"/>
                <a:ea typeface="IBM Plex Sans Thai" pitchFamily="34" charset="-122"/>
              </a:rPr>
              <a:t>)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9FC60086-5D8E-484D-86F4-D27CC27693F7}"/>
              </a:ext>
            </a:extLst>
          </p:cNvPr>
          <p:cNvSpPr/>
          <p:nvPr/>
        </p:nvSpPr>
        <p:spPr>
          <a:xfrm>
            <a:off x="4658291" y="4138576"/>
            <a:ext cx="3054096" cy="1351359"/>
          </a:xfrm>
          <a:prstGeom prst="roundRect">
            <a:avLst>
              <a:gd name="adj" fmla="val 6061"/>
            </a:avLst>
          </a:prstGeom>
          <a:solidFill>
            <a:srgbClr val="EFF4FC"/>
          </a:solidFill>
          <a:ln/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0D7B623-15A1-4A5C-856D-220930B3572B}"/>
              </a:ext>
            </a:extLst>
          </p:cNvPr>
          <p:cNvSpPr/>
          <p:nvPr/>
        </p:nvSpPr>
        <p:spPr>
          <a:xfrm>
            <a:off x="4822883" y="4237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ผลลัพธ์</a:t>
            </a:r>
            <a:endParaRPr lang="en-US" sz="105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D19FA042-6D66-425C-B1C0-EFF22A1B3E57}"/>
              </a:ext>
            </a:extLst>
          </p:cNvPr>
          <p:cNvSpPr/>
          <p:nvPr/>
        </p:nvSpPr>
        <p:spPr>
          <a:xfrm>
            <a:off x="4758875" y="4603011"/>
            <a:ext cx="2816352" cy="7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เอกสาร </a:t>
            </a:r>
            <a:r>
              <a:rPr lang="en-US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Concept </a:t>
            </a: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ตามที่ทีมงานสรุปกัน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 err="1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ขอบเขต</a:t>
            </a: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งานที่จะทำ</a:t>
            </a:r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Daft Solution </a:t>
            </a: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ส่ง</a:t>
            </a:r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21798751-452B-421A-99FA-4009BD9CCC54}"/>
              </a:ext>
            </a:extLst>
          </p:cNvPr>
          <p:cNvSpPr/>
          <p:nvPr/>
        </p:nvSpPr>
        <p:spPr>
          <a:xfrm>
            <a:off x="4676579" y="256385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วัตถุประสงค์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F6A1FF5-EA0C-46C7-9D26-E17CECB43250}"/>
              </a:ext>
            </a:extLst>
          </p:cNvPr>
          <p:cNvSpPr/>
          <p:nvPr/>
        </p:nvSpPr>
        <p:spPr>
          <a:xfrm>
            <a:off x="4694867" y="2838175"/>
            <a:ext cx="3035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วิธีการทำ ขั้นตอน ในทุก </a:t>
            </a:r>
            <a:r>
              <a:rPr lang="en-US" sz="1400" dirty="0"/>
              <a:t>Requirement</a:t>
            </a:r>
            <a:endParaRPr lang="th-TH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ตอบปัญหาทุกข้อ ถ้าปัญหาไหนทำไม่ได้ ให้ </a:t>
            </a:r>
            <a:r>
              <a:rPr lang="en-US" sz="1400" dirty="0"/>
              <a:t>Remark </a:t>
            </a:r>
            <a:r>
              <a:rPr lang="th-TH" sz="1400" dirty="0"/>
              <a:t>ไว้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ประชุมยืนยันความเข้าใจกั</a:t>
            </a:r>
            <a:r>
              <a:rPr lang="th-TH" sz="14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น</a:t>
            </a:r>
            <a:r>
              <a:rPr lang="th-TH" sz="1400" dirty="0">
                <a:solidFill>
                  <a:srgbClr val="FF0000"/>
                </a:solidFill>
                <a:latin typeface="Sarabun" pitchFamily="34" charset="0"/>
                <a:ea typeface="Sarabun" pitchFamily="34" charset="-122"/>
              </a:rPr>
              <a:t>ภายในทีม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latin typeface="Sarabun" pitchFamily="34" charset="0"/>
                <a:ea typeface="Sarabun" pitchFamily="34" charset="-122"/>
              </a:rPr>
              <a:t>Site survey#2 #3 (</a:t>
            </a:r>
            <a:r>
              <a:rPr lang="th-TH" sz="1400" dirty="0">
                <a:latin typeface="Sarabun" pitchFamily="34" charset="0"/>
                <a:ea typeface="Sarabun" pitchFamily="34" charset="-122"/>
              </a:rPr>
              <a:t>อาจจะมีหรือไม่มีก็ได้</a:t>
            </a:r>
            <a:r>
              <a:rPr lang="en-US" sz="1400" dirty="0">
                <a:latin typeface="Sarabun" pitchFamily="34" charset="0"/>
                <a:ea typeface="Sarabun" pitchFamily="34" charset="-122"/>
              </a:rPr>
              <a:t>)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latin typeface="Sarabun" pitchFamily="34" charset="0"/>
                <a:ea typeface="Sarabun" pitchFamily="34" charset="-122"/>
              </a:rPr>
              <a:t>POC</a:t>
            </a:r>
            <a:endParaRPr lang="en-US" sz="14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E9F68C61-A09F-4303-BE1E-D6060DA80866}"/>
              </a:ext>
            </a:extLst>
          </p:cNvPr>
          <p:cNvSpPr/>
          <p:nvPr/>
        </p:nvSpPr>
        <p:spPr>
          <a:xfrm>
            <a:off x="6413939" y="4804135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86D0117A-D73C-48DE-8AB9-A2767DE5551A}"/>
              </a:ext>
            </a:extLst>
          </p:cNvPr>
          <p:cNvSpPr/>
          <p:nvPr/>
        </p:nvSpPr>
        <p:spPr>
          <a:xfrm>
            <a:off x="6724835" y="4804135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400" dirty="0"/>
              <a:t>ทีมงาน</a:t>
            </a:r>
            <a:endParaRPr lang="en-US" sz="24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FD3B3522-B4D4-45CD-960D-93FF96A22EEB}"/>
              </a:ext>
            </a:extLst>
          </p:cNvPr>
          <p:cNvSpPr/>
          <p:nvPr/>
        </p:nvSpPr>
        <p:spPr>
          <a:xfrm>
            <a:off x="6413939" y="51516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073B8B0-0B21-4A29-A08C-069FBAA14835}"/>
              </a:ext>
            </a:extLst>
          </p:cNvPr>
          <p:cNvSpPr/>
          <p:nvPr/>
        </p:nvSpPr>
        <p:spPr>
          <a:xfrm>
            <a:off x="6724835" y="51516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400" dirty="0"/>
              <a:t>ลูกค้า</a:t>
            </a:r>
            <a:endParaRPr lang="en-US" sz="24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5BC08514-0470-4060-9615-F434E0D469B5}"/>
              </a:ext>
            </a:extLst>
          </p:cNvPr>
          <p:cNvSpPr/>
          <p:nvPr/>
        </p:nvSpPr>
        <p:spPr>
          <a:xfrm>
            <a:off x="8406532" y="1082527"/>
            <a:ext cx="3566160" cy="4553712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5F4"/>
            </a:solidFill>
            <a:prstDash val="solid"/>
          </a:ln>
          <a:effectLst>
            <a:outerShdw blurRad="76200" dist="25400" dir="5400000" algn="bl" rotWithShape="0">
              <a:srgbClr val="20305A">
                <a:alpha val="8000"/>
              </a:srgbClr>
            </a:outerShdw>
          </a:effectLst>
        </p:spPr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59792F59-4420-40F3-B636-EEBFE5B0226D}"/>
              </a:ext>
            </a:extLst>
          </p:cNvPr>
          <p:cNvSpPr/>
          <p:nvPr/>
        </p:nvSpPr>
        <p:spPr>
          <a:xfrm>
            <a:off x="8680852" y="1356847"/>
            <a:ext cx="530352" cy="530352"/>
          </a:xfrm>
          <a:prstGeom prst="ellipse">
            <a:avLst/>
          </a:prstGeom>
          <a:solidFill>
            <a:srgbClr val="344E96"/>
          </a:solidFill>
          <a:ln/>
        </p:spPr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11EAD6B2-02A8-4E93-9C94-6C3DA2A23568}"/>
              </a:ext>
            </a:extLst>
          </p:cNvPr>
          <p:cNvSpPr/>
          <p:nvPr/>
        </p:nvSpPr>
        <p:spPr>
          <a:xfrm>
            <a:off x="8680852" y="135684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B6FF"/>
                </a:solidFill>
                <a:latin typeface="IBM Plex Sans Thai" pitchFamily="34" charset="0"/>
                <a:ea typeface="IBM Plex Sans Thai" pitchFamily="34" charset="-122"/>
              </a:rPr>
              <a:t>03</a:t>
            </a:r>
            <a:endParaRPr lang="en-US" sz="15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6BA0BD30-90D3-4517-BA54-A407154D94A8}"/>
              </a:ext>
            </a:extLst>
          </p:cNvPr>
          <p:cNvSpPr/>
          <p:nvPr/>
        </p:nvSpPr>
        <p:spPr>
          <a:xfrm>
            <a:off x="10509652" y="1411711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pic>
        <p:nvPicPr>
          <p:cNvPr id="39" name="Image 2" descr="icons/clock_amber.png">
            <a:extLst>
              <a:ext uri="{FF2B5EF4-FFF2-40B4-BE49-F238E27FC236}">
                <a16:creationId xmlns:a16="http://schemas.microsoft.com/office/drawing/2014/main" id="{83208A82-EF98-4C50-BA3D-73565285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092" y="1475719"/>
            <a:ext cx="182880" cy="182880"/>
          </a:xfrm>
          <a:prstGeom prst="rect">
            <a:avLst/>
          </a:prstGeom>
        </p:spPr>
      </p:pic>
      <p:sp>
        <p:nvSpPr>
          <p:cNvPr id="40" name="Text 29">
            <a:extLst>
              <a:ext uri="{FF2B5EF4-FFF2-40B4-BE49-F238E27FC236}">
                <a16:creationId xmlns:a16="http://schemas.microsoft.com/office/drawing/2014/main" id="{6AFB8646-0FE1-443F-B62E-C363BDADB142}"/>
              </a:ext>
            </a:extLst>
          </p:cNvPr>
          <p:cNvSpPr/>
          <p:nvPr/>
        </p:nvSpPr>
        <p:spPr>
          <a:xfrm>
            <a:off x="10820548" y="141171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6A53"/>
                </a:solidFill>
                <a:latin typeface="IBM Plex Sans Thai" pitchFamily="34" charset="0"/>
                <a:ea typeface="IBM Plex Sans Thai" pitchFamily="34" charset="-122"/>
              </a:rPr>
              <a:t>1–3 วัน</a:t>
            </a:r>
            <a:endParaRPr lang="en-US" sz="1050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306E1E4E-8312-4F53-AF03-D6318ABD1E97}"/>
              </a:ext>
            </a:extLst>
          </p:cNvPr>
          <p:cNvSpPr/>
          <p:nvPr/>
        </p:nvSpPr>
        <p:spPr>
          <a:xfrm>
            <a:off x="8680852" y="1996927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Meeting#2 </a:t>
            </a:r>
            <a:r>
              <a:rPr lang="th-TH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นำเสนอ </a:t>
            </a: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Solution </a:t>
            </a:r>
            <a:r>
              <a:rPr lang="th-TH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ครั้งแรก กับลูกค้า</a:t>
            </a:r>
            <a:endParaRPr lang="en-US" sz="1350" dirty="0"/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EC81D7A6-0116-4F74-984C-7191AD6B7394}"/>
              </a:ext>
            </a:extLst>
          </p:cNvPr>
          <p:cNvSpPr/>
          <p:nvPr/>
        </p:nvSpPr>
        <p:spPr>
          <a:xfrm>
            <a:off x="8635132" y="4584679"/>
            <a:ext cx="3054096" cy="905256"/>
          </a:xfrm>
          <a:prstGeom prst="roundRect">
            <a:avLst>
              <a:gd name="adj" fmla="val 6061"/>
            </a:avLst>
          </a:prstGeom>
          <a:solidFill>
            <a:srgbClr val="EFF4FC"/>
          </a:solidFill>
          <a:ln/>
        </p:spPr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3642B652-BED9-4F14-974A-EFEC400E7DA1}"/>
              </a:ext>
            </a:extLst>
          </p:cNvPr>
          <p:cNvSpPr/>
          <p:nvPr/>
        </p:nvSpPr>
        <p:spPr>
          <a:xfrm>
            <a:off x="8827156" y="4676119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ผลลัพธ์</a:t>
            </a:r>
            <a:endParaRPr lang="en-US" sz="105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28288DC7-9316-4CB1-B55A-63D0CD52BB3A}"/>
              </a:ext>
            </a:extLst>
          </p:cNvPr>
          <p:cNvSpPr/>
          <p:nvPr/>
        </p:nvSpPr>
        <p:spPr>
          <a:xfrm>
            <a:off x="8827156" y="4932151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ได้ยอมรับ </a:t>
            </a:r>
            <a:r>
              <a:rPr lang="en-US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Solution </a:t>
            </a:r>
            <a:r>
              <a:rPr lang="th-TH" sz="1100" dirty="0">
                <a:solidFill>
                  <a:srgbClr val="1F2A40"/>
                </a:solidFill>
                <a:latin typeface="Sarabun" pitchFamily="34" charset="0"/>
                <a:ea typeface="Sarabun" pitchFamily="34" charset="-122"/>
              </a:rPr>
              <a:t>จากลูกค้า</a:t>
            </a:r>
            <a:endParaRPr lang="en-US" sz="1100" dirty="0"/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819EE7D5-2529-4A7C-9BC2-44EBFA97184D}"/>
              </a:ext>
            </a:extLst>
          </p:cNvPr>
          <p:cNvSpPr/>
          <p:nvPr/>
        </p:nvSpPr>
        <p:spPr>
          <a:xfrm>
            <a:off x="8680852" y="256385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วัตถุประสงค์</a:t>
            </a:r>
            <a:endParaRPr lang="en-US" sz="1050" dirty="0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201E57E3-3CFA-4C19-A3C5-8822F742A963}"/>
              </a:ext>
            </a:extLst>
          </p:cNvPr>
          <p:cNvSpPr/>
          <p:nvPr/>
        </p:nvSpPr>
        <p:spPr>
          <a:xfrm>
            <a:off x="8699140" y="2838175"/>
            <a:ext cx="3035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นำข้อมูลเสนอลูกค้า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ถ้ามีการเปลี่ยนแปลงข้อมูลให้ วกกลับมาที่ข้อ 2</a:t>
            </a:r>
            <a:endParaRPr lang="en-US" sz="140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E6D3B8F6-D57F-4B5D-AFD7-C959ED1B6F24}"/>
              </a:ext>
            </a:extLst>
          </p:cNvPr>
          <p:cNvSpPr/>
          <p:nvPr/>
        </p:nvSpPr>
        <p:spPr>
          <a:xfrm>
            <a:off x="10509652" y="2353543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A64469EC-B435-4E7B-92D3-17DAD8A80C3A}"/>
              </a:ext>
            </a:extLst>
          </p:cNvPr>
          <p:cNvSpPr/>
          <p:nvPr/>
        </p:nvSpPr>
        <p:spPr>
          <a:xfrm>
            <a:off x="10820548" y="2353543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400" dirty="0"/>
              <a:t>ลูกค้า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5CEFD1-DCB3-4BD9-89EB-EA2DABE1AA5A}"/>
              </a:ext>
            </a:extLst>
          </p:cNvPr>
          <p:cNvSpPr/>
          <p:nvPr/>
        </p:nvSpPr>
        <p:spPr>
          <a:xfrm>
            <a:off x="397986" y="-20849"/>
            <a:ext cx="6096000" cy="5404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4000"/>
              </a:lnSpc>
            </a:pPr>
            <a:r>
              <a:rPr lang="en-US" b="1" dirty="0" err="1">
                <a:solidFill>
                  <a:srgbClr val="0070C0"/>
                </a:solidFill>
                <a:latin typeface="IBM Plex Sans Thai" pitchFamily="34" charset="0"/>
                <a:ea typeface="IBM Plex Sans Thai" pitchFamily="34" charset="-122"/>
              </a:rPr>
              <a:t>กระบวนการทำงาน</a:t>
            </a:r>
            <a:r>
              <a:rPr lang="en-US" b="1" dirty="0">
                <a:solidFill>
                  <a:srgbClr val="0070C0"/>
                </a:solidFill>
                <a:latin typeface="IBM Plex Sans Thai" pitchFamily="34" charset="0"/>
                <a:ea typeface="IBM Plex Sans Thai" pitchFamily="34" charset="-122"/>
              </a:rPr>
              <a:t>  Solution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68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5">
            <a:extLst>
              <a:ext uri="{FF2B5EF4-FFF2-40B4-BE49-F238E27FC236}">
                <a16:creationId xmlns:a16="http://schemas.microsoft.com/office/drawing/2014/main" id="{46804783-9BE7-4E93-BAA3-2E782A8A6B40}"/>
              </a:ext>
            </a:extLst>
          </p:cNvPr>
          <p:cNvSpPr/>
          <p:nvPr/>
        </p:nvSpPr>
        <p:spPr>
          <a:xfrm>
            <a:off x="2377440" y="1019456"/>
            <a:ext cx="3566160" cy="4553712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5F4"/>
            </a:solidFill>
            <a:prstDash val="solid"/>
          </a:ln>
          <a:effectLst>
            <a:outerShdw blurRad="76200" dist="25400" dir="5400000" algn="bl" rotWithShape="0">
              <a:srgbClr val="20305A">
                <a:alpha val="8000"/>
              </a:srgbClr>
            </a:outerShdw>
          </a:effectLst>
        </p:spPr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8F68C0F-3EBD-46EC-ADB0-940AB76B49A3}"/>
              </a:ext>
            </a:extLst>
          </p:cNvPr>
          <p:cNvSpPr/>
          <p:nvPr/>
        </p:nvSpPr>
        <p:spPr>
          <a:xfrm>
            <a:off x="2651760" y="1293776"/>
            <a:ext cx="530352" cy="530352"/>
          </a:xfrm>
          <a:prstGeom prst="ellipse">
            <a:avLst/>
          </a:prstGeom>
          <a:solidFill>
            <a:srgbClr val="344E96"/>
          </a:solidFill>
          <a:ln/>
        </p:spPr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3436A3D2-3267-4075-A2F7-D9104F2154F5}"/>
              </a:ext>
            </a:extLst>
          </p:cNvPr>
          <p:cNvSpPr/>
          <p:nvPr/>
        </p:nvSpPr>
        <p:spPr>
          <a:xfrm>
            <a:off x="2651760" y="12937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B6FF"/>
                </a:solidFill>
                <a:latin typeface="IBM Plex Sans Thai" pitchFamily="34" charset="0"/>
                <a:ea typeface="IBM Plex Sans Thai" pitchFamily="34" charset="-122"/>
              </a:rPr>
              <a:t>04</a:t>
            </a:r>
            <a:endParaRPr lang="en-US" sz="1500" dirty="0"/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EFC2AAB6-9456-4F0D-8657-9C845118169D}"/>
              </a:ext>
            </a:extLst>
          </p:cNvPr>
          <p:cNvSpPr/>
          <p:nvPr/>
        </p:nvSpPr>
        <p:spPr>
          <a:xfrm>
            <a:off x="4480560" y="13486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pic>
        <p:nvPicPr>
          <p:cNvPr id="8" name="Image 2" descr="icons/clock_amber.png">
            <a:extLst>
              <a:ext uri="{FF2B5EF4-FFF2-40B4-BE49-F238E27FC236}">
                <a16:creationId xmlns:a16="http://schemas.microsoft.com/office/drawing/2014/main" id="{E90E8043-CAF3-4A7C-AE13-976A0A1B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2648"/>
            <a:ext cx="182880" cy="182880"/>
          </a:xfrm>
          <a:prstGeom prst="rect">
            <a:avLst/>
          </a:prstGeom>
        </p:spPr>
      </p:pic>
      <p:sp>
        <p:nvSpPr>
          <p:cNvPr id="9" name="Text 29">
            <a:extLst>
              <a:ext uri="{FF2B5EF4-FFF2-40B4-BE49-F238E27FC236}">
                <a16:creationId xmlns:a16="http://schemas.microsoft.com/office/drawing/2014/main" id="{32AEC8A5-DA52-4657-8FC9-C73948A9E79A}"/>
              </a:ext>
            </a:extLst>
          </p:cNvPr>
          <p:cNvSpPr/>
          <p:nvPr/>
        </p:nvSpPr>
        <p:spPr>
          <a:xfrm>
            <a:off x="4791456" y="1348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6A53"/>
                </a:solidFill>
                <a:latin typeface="IBM Plex Sans Thai" pitchFamily="34" charset="0"/>
                <a:ea typeface="IBM Plex Sans Thai" pitchFamily="34" charset="-122"/>
              </a:rPr>
              <a:t>4 วัน</a:t>
            </a:r>
            <a:endParaRPr lang="en-US" sz="1050" dirty="0"/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3361010C-1335-4CD5-B06D-99D18EDE95A4}"/>
              </a:ext>
            </a:extLst>
          </p:cNvPr>
          <p:cNvSpPr/>
          <p:nvPr/>
        </p:nvSpPr>
        <p:spPr>
          <a:xfrm>
            <a:off x="2651760" y="19338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BOM List </a:t>
            </a:r>
            <a:r>
              <a:rPr lang="th-TH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ตาม </a:t>
            </a: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Solution</a:t>
            </a:r>
            <a:r>
              <a:rPr lang="th-TH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 ที่ถูกยอมรับมาจากข้อที่ 3</a:t>
            </a:r>
            <a:endParaRPr lang="en-US" sz="1350" dirty="0"/>
          </a:p>
        </p:txBody>
      </p:sp>
      <p:sp>
        <p:nvSpPr>
          <p:cNvPr id="11" name="Shape 31">
            <a:extLst>
              <a:ext uri="{FF2B5EF4-FFF2-40B4-BE49-F238E27FC236}">
                <a16:creationId xmlns:a16="http://schemas.microsoft.com/office/drawing/2014/main" id="{E18B71B1-7193-4CEE-9AC7-733591D778FB}"/>
              </a:ext>
            </a:extLst>
          </p:cNvPr>
          <p:cNvSpPr/>
          <p:nvPr/>
        </p:nvSpPr>
        <p:spPr>
          <a:xfrm>
            <a:off x="2606040" y="4521608"/>
            <a:ext cx="3054096" cy="905256"/>
          </a:xfrm>
          <a:prstGeom prst="roundRect">
            <a:avLst>
              <a:gd name="adj" fmla="val 6061"/>
            </a:avLst>
          </a:prstGeom>
          <a:solidFill>
            <a:srgbClr val="EFF4FC"/>
          </a:solidFill>
          <a:ln/>
        </p:spPr>
        <p:txBody>
          <a:bodyPr/>
          <a:lstStyle/>
          <a:p>
            <a:endParaRPr lang="th-TH" dirty="0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1D125CA5-F069-45AA-B41C-7D08BC397F2E}"/>
              </a:ext>
            </a:extLst>
          </p:cNvPr>
          <p:cNvSpPr/>
          <p:nvPr/>
        </p:nvSpPr>
        <p:spPr>
          <a:xfrm>
            <a:off x="2798064" y="4613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ผลลัพธ์</a:t>
            </a:r>
            <a:endParaRPr lang="en-US" sz="1050" dirty="0"/>
          </a:p>
        </p:txBody>
      </p:sp>
      <p:sp>
        <p:nvSpPr>
          <p:cNvPr id="13" name="Text 33">
            <a:extLst>
              <a:ext uri="{FF2B5EF4-FFF2-40B4-BE49-F238E27FC236}">
                <a16:creationId xmlns:a16="http://schemas.microsoft.com/office/drawing/2014/main" id="{AB6E4B45-CECD-4AAB-8B7E-1A5D80605F62}"/>
              </a:ext>
            </a:extLst>
          </p:cNvPr>
          <p:cNvSpPr/>
          <p:nvPr/>
        </p:nvSpPr>
        <p:spPr>
          <a:xfrm>
            <a:off x="2798064" y="4869080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Cost Estimation</a:t>
            </a:r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Bom List</a:t>
            </a:r>
            <a:endParaRPr lang="en-US" sz="1100" dirty="0"/>
          </a:p>
        </p:txBody>
      </p:sp>
      <p:sp>
        <p:nvSpPr>
          <p:cNvPr id="14" name="Text 34">
            <a:extLst>
              <a:ext uri="{FF2B5EF4-FFF2-40B4-BE49-F238E27FC236}">
                <a16:creationId xmlns:a16="http://schemas.microsoft.com/office/drawing/2014/main" id="{A583317A-E518-427E-A7B1-0ED9D7C500DA}"/>
              </a:ext>
            </a:extLst>
          </p:cNvPr>
          <p:cNvSpPr/>
          <p:nvPr/>
        </p:nvSpPr>
        <p:spPr>
          <a:xfrm>
            <a:off x="2651760" y="2500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วัตถุประสงค์</a:t>
            </a:r>
            <a:endParaRPr lang="en-US" sz="1050" dirty="0"/>
          </a:p>
        </p:txBody>
      </p:sp>
      <p:sp>
        <p:nvSpPr>
          <p:cNvPr id="15" name="Text 35">
            <a:extLst>
              <a:ext uri="{FF2B5EF4-FFF2-40B4-BE49-F238E27FC236}">
                <a16:creationId xmlns:a16="http://schemas.microsoft.com/office/drawing/2014/main" id="{73A57E1A-BDE3-416A-BF3F-133102F4E270}"/>
              </a:ext>
            </a:extLst>
          </p:cNvPr>
          <p:cNvSpPr/>
          <p:nvPr/>
        </p:nvSpPr>
        <p:spPr>
          <a:xfrm>
            <a:off x="2670048" y="2775104"/>
            <a:ext cx="3035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/>
              <a:t>Bom list 100%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ราคาอุปกรณ์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ราคาติดตั้ง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/>
              <a:t>Time Line 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 err="1"/>
              <a:t>Manday</a:t>
            </a:r>
            <a:r>
              <a:rPr lang="en-US" sz="1400" dirty="0"/>
              <a:t> Manpower</a:t>
            </a:r>
          </a:p>
        </p:txBody>
      </p:sp>
      <p:sp>
        <p:nvSpPr>
          <p:cNvPr id="16" name="Shape 25">
            <a:extLst>
              <a:ext uri="{FF2B5EF4-FFF2-40B4-BE49-F238E27FC236}">
                <a16:creationId xmlns:a16="http://schemas.microsoft.com/office/drawing/2014/main" id="{360925E1-B537-4F30-93C2-FEA2DA58838D}"/>
              </a:ext>
            </a:extLst>
          </p:cNvPr>
          <p:cNvSpPr/>
          <p:nvPr/>
        </p:nvSpPr>
        <p:spPr>
          <a:xfrm>
            <a:off x="6248400" y="1052136"/>
            <a:ext cx="3566160" cy="4553712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5F4"/>
            </a:solidFill>
            <a:prstDash val="solid"/>
          </a:ln>
          <a:effectLst>
            <a:outerShdw blurRad="76200" dist="25400" dir="5400000" algn="bl" rotWithShape="0">
              <a:srgbClr val="20305A">
                <a:alpha val="8000"/>
              </a:srgbClr>
            </a:outerShdw>
          </a:effectLst>
        </p:spPr>
      </p:sp>
      <p:sp>
        <p:nvSpPr>
          <p:cNvPr id="17" name="Shape 26">
            <a:extLst>
              <a:ext uri="{FF2B5EF4-FFF2-40B4-BE49-F238E27FC236}">
                <a16:creationId xmlns:a16="http://schemas.microsoft.com/office/drawing/2014/main" id="{D7F20A27-EE60-459F-A819-4E0A32DF69CC}"/>
              </a:ext>
            </a:extLst>
          </p:cNvPr>
          <p:cNvSpPr/>
          <p:nvPr/>
        </p:nvSpPr>
        <p:spPr>
          <a:xfrm>
            <a:off x="6522720" y="1326456"/>
            <a:ext cx="530352" cy="530352"/>
          </a:xfrm>
          <a:prstGeom prst="ellipse">
            <a:avLst/>
          </a:prstGeom>
          <a:solidFill>
            <a:srgbClr val="344E96"/>
          </a:solidFill>
          <a:ln/>
        </p:spPr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19CDEBB7-523B-4C00-8292-147C45240900}"/>
              </a:ext>
            </a:extLst>
          </p:cNvPr>
          <p:cNvSpPr/>
          <p:nvPr/>
        </p:nvSpPr>
        <p:spPr>
          <a:xfrm>
            <a:off x="6522720" y="1326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B6FF"/>
                </a:solidFill>
                <a:latin typeface="IBM Plex Sans Thai" pitchFamily="34" charset="0"/>
                <a:ea typeface="IBM Plex Sans Thai" pitchFamily="34" charset="-122"/>
              </a:rPr>
              <a:t>05</a:t>
            </a:r>
            <a:endParaRPr lang="en-US" sz="1500" dirty="0"/>
          </a:p>
        </p:txBody>
      </p:sp>
      <p:sp>
        <p:nvSpPr>
          <p:cNvPr id="19" name="Shape 28">
            <a:extLst>
              <a:ext uri="{FF2B5EF4-FFF2-40B4-BE49-F238E27FC236}">
                <a16:creationId xmlns:a16="http://schemas.microsoft.com/office/drawing/2014/main" id="{CAA8119B-2EEF-4D71-9591-75046C3A9CCC}"/>
              </a:ext>
            </a:extLst>
          </p:cNvPr>
          <p:cNvSpPr/>
          <p:nvPr/>
        </p:nvSpPr>
        <p:spPr>
          <a:xfrm>
            <a:off x="8351520" y="13813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pic>
        <p:nvPicPr>
          <p:cNvPr id="20" name="Image 2" descr="icons/clock_amber.png">
            <a:extLst>
              <a:ext uri="{FF2B5EF4-FFF2-40B4-BE49-F238E27FC236}">
                <a16:creationId xmlns:a16="http://schemas.microsoft.com/office/drawing/2014/main" id="{585D9D4D-6CEF-41ED-8EC1-A74EE9963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960" y="1445328"/>
            <a:ext cx="182880" cy="182880"/>
          </a:xfrm>
          <a:prstGeom prst="rect">
            <a:avLst/>
          </a:prstGeom>
        </p:spPr>
      </p:pic>
      <p:sp>
        <p:nvSpPr>
          <p:cNvPr id="21" name="Text 29">
            <a:extLst>
              <a:ext uri="{FF2B5EF4-FFF2-40B4-BE49-F238E27FC236}">
                <a16:creationId xmlns:a16="http://schemas.microsoft.com/office/drawing/2014/main" id="{4A1517D1-22D2-4CE8-A664-3656FD85F60D}"/>
              </a:ext>
            </a:extLst>
          </p:cNvPr>
          <p:cNvSpPr/>
          <p:nvPr/>
        </p:nvSpPr>
        <p:spPr>
          <a:xfrm>
            <a:off x="8662416" y="13813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6A53"/>
                </a:solidFill>
                <a:latin typeface="IBM Plex Sans Thai" pitchFamily="34" charset="0"/>
                <a:ea typeface="IBM Plex Sans Thai" pitchFamily="34" charset="-122"/>
              </a:rPr>
              <a:t>5 วัน</a:t>
            </a:r>
            <a:endParaRPr lang="en-US" sz="1050" dirty="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0BDB5D61-1C56-410A-9850-5B93C30C4767}"/>
              </a:ext>
            </a:extLst>
          </p:cNvPr>
          <p:cNvSpPr/>
          <p:nvPr/>
        </p:nvSpPr>
        <p:spPr>
          <a:xfrm>
            <a:off x="6522720" y="19665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0305A"/>
                </a:solidFill>
                <a:latin typeface="IBM Plex Sans Thai" pitchFamily="34" charset="0"/>
                <a:ea typeface="IBM Plex Sans Thai" pitchFamily="34" charset="-122"/>
              </a:rPr>
              <a:t>Proposal</a:t>
            </a:r>
            <a:endParaRPr lang="en-US" sz="1350" dirty="0"/>
          </a:p>
        </p:txBody>
      </p:sp>
      <p:sp>
        <p:nvSpPr>
          <p:cNvPr id="23" name="Shape 31">
            <a:extLst>
              <a:ext uri="{FF2B5EF4-FFF2-40B4-BE49-F238E27FC236}">
                <a16:creationId xmlns:a16="http://schemas.microsoft.com/office/drawing/2014/main" id="{2F804C42-54B3-4F20-A6F6-614C465835A6}"/>
              </a:ext>
            </a:extLst>
          </p:cNvPr>
          <p:cNvSpPr/>
          <p:nvPr/>
        </p:nvSpPr>
        <p:spPr>
          <a:xfrm>
            <a:off x="6477000" y="4554288"/>
            <a:ext cx="3054096" cy="905256"/>
          </a:xfrm>
          <a:prstGeom prst="roundRect">
            <a:avLst>
              <a:gd name="adj" fmla="val 6061"/>
            </a:avLst>
          </a:prstGeom>
          <a:solidFill>
            <a:srgbClr val="EFF4FC"/>
          </a:solidFill>
          <a:ln/>
        </p:spPr>
        <p:txBody>
          <a:bodyPr/>
          <a:lstStyle/>
          <a:p>
            <a:endParaRPr lang="th-TH" dirty="0"/>
          </a:p>
        </p:txBody>
      </p:sp>
      <p:sp>
        <p:nvSpPr>
          <p:cNvPr id="24" name="Text 32">
            <a:extLst>
              <a:ext uri="{FF2B5EF4-FFF2-40B4-BE49-F238E27FC236}">
                <a16:creationId xmlns:a16="http://schemas.microsoft.com/office/drawing/2014/main" id="{7FE3A253-4ADA-4CD4-8656-E92D1559C9CC}"/>
              </a:ext>
            </a:extLst>
          </p:cNvPr>
          <p:cNvSpPr/>
          <p:nvPr/>
        </p:nvSpPr>
        <p:spPr>
          <a:xfrm>
            <a:off x="6669024" y="464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ผลลัพธ์</a:t>
            </a:r>
            <a:endParaRPr lang="en-US" sz="1050" dirty="0"/>
          </a:p>
        </p:txBody>
      </p:sp>
      <p:sp>
        <p:nvSpPr>
          <p:cNvPr id="25" name="Text 33">
            <a:extLst>
              <a:ext uri="{FF2B5EF4-FFF2-40B4-BE49-F238E27FC236}">
                <a16:creationId xmlns:a16="http://schemas.microsoft.com/office/drawing/2014/main" id="{407A17BF-E0DF-4EBC-B305-8132B56C50A6}"/>
              </a:ext>
            </a:extLst>
          </p:cNvPr>
          <p:cNvSpPr/>
          <p:nvPr/>
        </p:nvSpPr>
        <p:spPr>
          <a:xfrm>
            <a:off x="6669024" y="4901760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/>
              <a:t>Proposal</a:t>
            </a:r>
          </a:p>
        </p:txBody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699C9F50-F5B2-49E2-99D7-348A8E20FD15}"/>
              </a:ext>
            </a:extLst>
          </p:cNvPr>
          <p:cNvSpPr/>
          <p:nvPr/>
        </p:nvSpPr>
        <p:spPr>
          <a:xfrm>
            <a:off x="6522720" y="2533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5AA6"/>
                </a:solidFill>
                <a:latin typeface="IBM Plex Sans Thai" pitchFamily="34" charset="0"/>
                <a:ea typeface="IBM Plex Sans Thai" pitchFamily="34" charset="-122"/>
              </a:rPr>
              <a:t>วัตถุประสงค์</a:t>
            </a:r>
            <a:endParaRPr lang="en-US" sz="1050" dirty="0"/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FB4D6219-0ACB-4E00-AAAF-96B6B02CF643}"/>
              </a:ext>
            </a:extLst>
          </p:cNvPr>
          <p:cNvSpPr/>
          <p:nvPr/>
        </p:nvSpPr>
        <p:spPr>
          <a:xfrm>
            <a:off x="6541008" y="2807784"/>
            <a:ext cx="3035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th-TH" sz="1400" dirty="0"/>
              <a:t>ร่าง </a:t>
            </a:r>
            <a:r>
              <a:rPr lang="en-US" sz="1400" dirty="0"/>
              <a:t>Proposal</a:t>
            </a: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FEF0C672-3ABA-494D-985A-B2AE006A7285}"/>
              </a:ext>
            </a:extLst>
          </p:cNvPr>
          <p:cNvSpPr/>
          <p:nvPr/>
        </p:nvSpPr>
        <p:spPr>
          <a:xfrm>
            <a:off x="4482084" y="2250065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78513680-6AB7-40BE-B236-0D81DB89F588}"/>
              </a:ext>
            </a:extLst>
          </p:cNvPr>
          <p:cNvSpPr/>
          <p:nvPr/>
        </p:nvSpPr>
        <p:spPr>
          <a:xfrm>
            <a:off x="4792980" y="2250065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400" dirty="0"/>
              <a:t>หัวหน้า</a:t>
            </a:r>
            <a:endParaRPr lang="en-US" sz="24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06BDC75-82DE-47ED-915A-6EAD6A67D9B3}"/>
              </a:ext>
            </a:extLst>
          </p:cNvPr>
          <p:cNvSpPr/>
          <p:nvPr/>
        </p:nvSpPr>
        <p:spPr>
          <a:xfrm>
            <a:off x="8351520" y="20765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CE5DD"/>
          </a:solidFill>
          <a:ln/>
        </p:spPr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0E47B62-8943-4794-AA16-FDE7F1A6DEB9}"/>
              </a:ext>
            </a:extLst>
          </p:cNvPr>
          <p:cNvSpPr/>
          <p:nvPr/>
        </p:nvSpPr>
        <p:spPr>
          <a:xfrm>
            <a:off x="8534400" y="20765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400" dirty="0"/>
              <a:t>ทีม </a:t>
            </a:r>
            <a:r>
              <a:rPr lang="en-US" sz="2400" dirty="0"/>
              <a:t>Sale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D40660-9DC5-439F-BD7D-E2FF7B6C0448}"/>
              </a:ext>
            </a:extLst>
          </p:cNvPr>
          <p:cNvSpPr/>
          <p:nvPr/>
        </p:nvSpPr>
        <p:spPr>
          <a:xfrm>
            <a:off x="397986" y="-20849"/>
            <a:ext cx="6096000" cy="5404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4000"/>
              </a:lnSpc>
            </a:pPr>
            <a:r>
              <a:rPr lang="en-US" b="1" dirty="0" err="1">
                <a:solidFill>
                  <a:srgbClr val="0070C0"/>
                </a:solidFill>
                <a:latin typeface="IBM Plex Sans Thai" pitchFamily="34" charset="0"/>
                <a:ea typeface="IBM Plex Sans Thai" pitchFamily="34" charset="-122"/>
              </a:rPr>
              <a:t>กระบวนการทำงาน</a:t>
            </a:r>
            <a:r>
              <a:rPr lang="en-US" b="1" dirty="0">
                <a:solidFill>
                  <a:srgbClr val="0070C0"/>
                </a:solidFill>
                <a:latin typeface="IBM Plex Sans Thai" pitchFamily="34" charset="0"/>
                <a:ea typeface="IBM Plex Sans Thai" pitchFamily="34" charset="-122"/>
              </a:rPr>
              <a:t>  Solution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393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IBM Plex Sans Thai</vt:lpstr>
      <vt:lpstr>Sarabun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อนุสรณ์ ไชยแสง 639001</dc:creator>
  <cp:lastModifiedBy>opast summao</cp:lastModifiedBy>
  <cp:revision>2</cp:revision>
  <dcterms:created xsi:type="dcterms:W3CDTF">2026-06-09T07:28:36Z</dcterms:created>
  <dcterms:modified xsi:type="dcterms:W3CDTF">2026-06-09T10:14:44Z</dcterms:modified>
</cp:coreProperties>
</file>